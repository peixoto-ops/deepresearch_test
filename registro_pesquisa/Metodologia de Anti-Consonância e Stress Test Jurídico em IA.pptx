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85850"/>
            <a:ext cx="5000625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Metodologia de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Anti-Consonância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e Stress Test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Jurídico em IA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3311798"/>
            <a:ext cx="4286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O Desafio do Viés Confirmatório em Pesquisas Jurídicas com IA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4539853"/>
            <a:ext cx="5000625" cy="603647"/>
          </a:xfrm>
          <a:prstGeom prst="rect">
            <a:avLst/>
          </a:prstGeom>
          <a:noFill/>
          <a:ln/>
        </p:spPr>
        <p:txBody>
          <a:bodyPr wrap="square" lIns="0" tIns="0" rIns="0" bIns="51028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A1A1A"/>
                </a:solidFill>
              </a:rPr>
              <a:t>Relato de Pesquisa &amp; Guia de Trabalho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5572125" y="0"/>
            <a:ext cx="3571875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281" y="892969"/>
            <a:ext cx="3357563" cy="335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A Metodologia de Anti-Consonância Obrigatória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323380"/>
            <a:ext cx="357188" cy="35718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69" y="1416248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71563" y="1323380"/>
            <a:ext cx="40433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3300"/>
                </a:solidFill>
              </a:rPr>
              <a:t>Mapeamento de Argumentos Contrários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1071563" y="1614488"/>
            <a:ext cx="4043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Identificação de teses opostas em sua forma mais forte (steelman), evitando caricaturas.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571500" y="2214563"/>
            <a:ext cx="357188" cy="35718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9" y="2307431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1563" y="2214563"/>
            <a:ext cx="40433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3300"/>
                </a:solidFill>
              </a:rPr>
              <a:t>Mudança de Perspectiva Institucional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1071563" y="2505670"/>
            <a:ext cx="4043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Simulação da voz do Ministério Público ou de tribunais superiores para testar a resistência da tese.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571500" y="3105745"/>
            <a:ext cx="357188" cy="35718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9" y="3198614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563" y="3105745"/>
            <a:ext cx="40433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3300"/>
                </a:solidFill>
              </a:rPr>
              <a:t>Avaliação de Riscos Concretos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1071563" y="3396853"/>
            <a:ext cx="4043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Foco em precedentes desfavoráveis e ambiguidades interpretativas que podem levar à rejeição.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571500" y="3996928"/>
            <a:ext cx="357188" cy="35718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9" y="4089797"/>
            <a:ext cx="171450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71563" y="3996928"/>
            <a:ext cx="40433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CC3300"/>
                </a:solidFill>
              </a:rPr>
              <a:t>Estratégias de Mitigação</a:t>
            </a:r>
            <a:endParaRPr lang="en-US" sz="1193" dirty="0"/>
          </a:p>
        </p:txBody>
      </p:sp>
      <p:sp>
        <p:nvSpPr>
          <p:cNvPr id="19" name="Text 12"/>
          <p:cNvSpPr/>
          <p:nvPr/>
        </p:nvSpPr>
        <p:spPr>
          <a:xfrm>
            <a:off x="1071563" y="4288036"/>
            <a:ext cx="40433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Respostas estruturadas e classificação de objeções como neutralizadas, mitigadas ou dependentes.</a:t>
            </a:r>
            <a:endParaRPr lang="en-US" sz="942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713" y="1537692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43375" cy="51435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857250"/>
            <a:ext cx="3429000" cy="342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0" y="771525"/>
            <a:ext cx="4143375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Stress Test:</a:t>
            </a:r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O Papel do Juiz Cético</a:t>
            </a:r>
            <a:endParaRPr lang="en-US" sz="2121" dirty="0"/>
          </a:p>
        </p:txBody>
      </p:sp>
      <p:sp>
        <p:nvSpPr>
          <p:cNvPr id="6" name="Text 2"/>
          <p:cNvSpPr/>
          <p:nvPr/>
        </p:nvSpPr>
        <p:spPr>
          <a:xfrm>
            <a:off x="4572000" y="1717346"/>
            <a:ext cx="267946" cy="61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3300"/>
                </a:solidFill>
              </a:rPr>
              <a:t>01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982821" y="1717346"/>
            <a:ext cx="37325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Suspensão de Presunção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4982821" y="1967378"/>
            <a:ext cx="373255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 modelo ignora a intenção do usuário e assume que a tese inicial pode estar errada.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4572000" y="2541724"/>
            <a:ext cx="267946" cy="61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3300"/>
                </a:solidFill>
              </a:rPr>
              <a:t>02</a:t>
            </a:r>
            <a:endParaRPr lang="en-US" sz="1602" dirty="0"/>
          </a:p>
        </p:txBody>
      </p:sp>
      <p:sp>
        <p:nvSpPr>
          <p:cNvPr id="10" name="Text 6"/>
          <p:cNvSpPr/>
          <p:nvPr/>
        </p:nvSpPr>
        <p:spPr>
          <a:xfrm>
            <a:off x="4982821" y="2541724"/>
            <a:ext cx="37325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Cenários Decisórios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4982821" y="2791755"/>
            <a:ext cx="373255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Simulação obrigatória de três desfechos: Acolhimento Total, Parcial e Rejeição Total.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4572000" y="3366102"/>
            <a:ext cx="267946" cy="61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3300"/>
                </a:solidFill>
              </a:rPr>
              <a:t>03</a:t>
            </a:r>
            <a:endParaRPr lang="en-US" sz="1602" dirty="0"/>
          </a:p>
        </p:txBody>
      </p:sp>
      <p:sp>
        <p:nvSpPr>
          <p:cNvPr id="13" name="Text 9"/>
          <p:cNvSpPr/>
          <p:nvPr/>
        </p:nvSpPr>
        <p:spPr>
          <a:xfrm>
            <a:off x="4982821" y="3366102"/>
            <a:ext cx="37325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Rigor Dogmático</a:t>
            </a:r>
            <a:endParaRPr lang="en-US" sz="1090" dirty="0"/>
          </a:p>
        </p:txBody>
      </p:sp>
      <p:sp>
        <p:nvSpPr>
          <p:cNvPr id="14" name="Text 10"/>
          <p:cNvSpPr/>
          <p:nvPr/>
        </p:nvSpPr>
        <p:spPr>
          <a:xfrm>
            <a:off x="4982821" y="3616133"/>
            <a:ext cx="373255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Análise ancorada estritamente na jurisprudência do STJ/STF e na doutrina clássica.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4572000" y="4190479"/>
            <a:ext cx="267946" cy="61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CC3300"/>
                </a:solidFill>
              </a:rPr>
              <a:t>04</a:t>
            </a:r>
            <a:endParaRPr lang="en-US" sz="1602" dirty="0"/>
          </a:p>
        </p:txBody>
      </p:sp>
      <p:sp>
        <p:nvSpPr>
          <p:cNvPr id="16" name="Text 12"/>
          <p:cNvSpPr/>
          <p:nvPr/>
        </p:nvSpPr>
        <p:spPr>
          <a:xfrm>
            <a:off x="4982821" y="4190479"/>
            <a:ext cx="373255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Decisor Adversarial</a:t>
            </a:r>
            <a:endParaRPr lang="en-US" sz="1090" dirty="0"/>
          </a:p>
        </p:txBody>
      </p:sp>
      <p:sp>
        <p:nvSpPr>
          <p:cNvPr id="17" name="Text 13"/>
          <p:cNvSpPr/>
          <p:nvPr/>
        </p:nvSpPr>
        <p:spPr>
          <a:xfrm>
            <a:off x="4982821" y="4440510"/>
            <a:ext cx="373255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IA deixa de ser um assistente passivo para se tornar um crítico rigoroso da estratégia.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938"/>
            <a:ext cx="80010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Hard Case 1: Acesso a Dados de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Celular em Flagrante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588759"/>
            <a:ext cx="4071938" cy="8572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767353"/>
            <a:ext cx="364331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CC3300"/>
                </a:solidFill>
              </a:rPr>
              <a:t>Conflito Central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785813" y="2013812"/>
            <a:ext cx="36433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F2F2F2"/>
                </a:solidFill>
              </a:rPr>
              <a:t>Urgência do crime permanente vs. Inviolabilidade de dados (Art. 5º, XII, CF).</a:t>
            </a:r>
            <a:endParaRPr lang="en-US" sz="987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4603"/>
            <a:ext cx="171450" cy="57328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2624603"/>
            <a:ext cx="37933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Risco Identificado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850106" y="2854989"/>
            <a:ext cx="3793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Dificuldade em distinguir a apreensão física do aparelho do acesso informacional ao seu conteúdo protegido.</a:t>
            </a:r>
            <a:endParaRPr lang="en-US" sz="834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76482"/>
            <a:ext cx="171450" cy="57328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0106" y="3376482"/>
            <a:ext cx="37933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Cenário de Rejeição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850106" y="3606868"/>
            <a:ext cx="37933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Validação do acesso imediato sob o argumento de preservação de prova em crimes graves e urgentes.</a:t>
            </a:r>
            <a:endParaRPr lang="en-US" sz="83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28362"/>
            <a:ext cx="128588" cy="57328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7244" y="4128362"/>
            <a:ext cx="383619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Metodologia em Ação</a:t>
            </a:r>
            <a:endParaRPr lang="en-US" sz="987" dirty="0"/>
          </a:p>
        </p:txBody>
      </p:sp>
      <p:sp>
        <p:nvSpPr>
          <p:cNvPr id="15" name="Text 9"/>
          <p:cNvSpPr/>
          <p:nvPr/>
        </p:nvSpPr>
        <p:spPr>
          <a:xfrm>
            <a:off x="807244" y="4358748"/>
            <a:ext cx="3836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 análise adversarial revelou a fragilidade de teses puramente garantistas quando confrontadas com a realidade policial.</a:t>
            </a:r>
            <a:endParaRPr lang="en-US" sz="834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781" y="1588759"/>
            <a:ext cx="3464719" cy="2500313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000625" y="4231946"/>
            <a:ext cx="3571875" cy="378619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8" name="Text 11"/>
          <p:cNvSpPr/>
          <p:nvPr/>
        </p:nvSpPr>
        <p:spPr>
          <a:xfrm>
            <a:off x="5000625" y="4231946"/>
            <a:ext cx="3571875" cy="378619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2F2F2"/>
                </a:solidFill>
              </a:rPr>
              <a:t>Insight: Stress test revela vulnerabilidades estratégicas</a:t>
            </a:r>
            <a:endParaRPr lang="en-US" sz="68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42938"/>
            <a:ext cx="8572500" cy="66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Hard Case 2: Bloqueio Unilateral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2600"/>
              </a:lnSpc>
              <a:buNone/>
            </a:pPr>
            <a:r>
              <a:rPr lang="en-US" sz="2121" b="1" spc="-1" kern="0" dirty="0">
                <a:solidFill>
                  <a:srgbClr val="1A1A1A"/>
                </a:solidFill>
              </a:rPr>
              <a:t>em Plataformas Digitais</a:t>
            </a:r>
            <a:endParaRPr lang="en-US" sz="2121" dirty="0"/>
          </a:p>
        </p:txBody>
      </p:sp>
      <p:sp>
        <p:nvSpPr>
          <p:cNvPr id="4" name="Text 1"/>
          <p:cNvSpPr/>
          <p:nvPr/>
        </p:nvSpPr>
        <p:spPr>
          <a:xfrm>
            <a:off x="571500" y="1831646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CC3300"/>
                </a:solidFill>
              </a:rPr>
              <a:t>O Conflito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2074534"/>
            <a:ext cx="385762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</a:rPr>
              <a:t>Autonomia Privada vs. Direitos Fundamentais</a:t>
            </a:r>
            <a:endParaRPr lang="en-US" sz="1295" dirty="0"/>
          </a:p>
        </p:txBody>
      </p:sp>
      <p:sp>
        <p:nvSpPr>
          <p:cNvPr id="6" name="Text 3"/>
          <p:cNvSpPr/>
          <p:nvPr/>
        </p:nvSpPr>
        <p:spPr>
          <a:xfrm>
            <a:off x="571500" y="2627449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Tensão entre a liberdade contratual das plataformas (Termos de Uso) e a eficácia horizontal dos direitos fundamentais dos usuários no ambiente digital.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714875" y="1831646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CC3300"/>
                </a:solidFill>
              </a:rPr>
              <a:t>Risco Identificado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714875" y="2074534"/>
            <a:ext cx="385762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</a:rPr>
              <a:t>Dano Moral e Ônus Probatório</a:t>
            </a:r>
            <a:endParaRPr lang="en-US" sz="1295" dirty="0"/>
          </a:p>
        </p:txBody>
      </p:sp>
      <p:sp>
        <p:nvSpPr>
          <p:cNvPr id="9" name="Text 6"/>
          <p:cNvSpPr/>
          <p:nvPr/>
        </p:nvSpPr>
        <p:spPr>
          <a:xfrm>
            <a:off x="4714875" y="2404570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jurisprudência oscila, mas há uma tendência de tratar o dano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moral como problema probatório concreto, afastando a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presunção </a:t>
            </a:r>
            <a:pPr algn="l" indent="0" marL="0">
              <a:lnSpc>
                <a:spcPts val="1500"/>
              </a:lnSpc>
              <a:buNone/>
            </a:pPr>
            <a:r>
              <a:rPr lang="en-US" sz="942" i="1" dirty="0">
                <a:solidFill>
                  <a:srgbClr val="333333"/>
                </a:solidFill>
              </a:rPr>
              <a:t>in re ipsa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663293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CC3300"/>
                </a:solidFill>
              </a:rPr>
              <a:t>Cenário de Rejeição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3906180"/>
            <a:ext cx="385762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</a:rPr>
              <a:t>Legitimidade do Bloqueio</a:t>
            </a:r>
            <a:endParaRPr lang="en-US" sz="1295" dirty="0"/>
          </a:p>
        </p:txBody>
      </p:sp>
      <p:sp>
        <p:nvSpPr>
          <p:cNvPr id="12" name="Text 9"/>
          <p:cNvSpPr/>
          <p:nvPr/>
        </p:nvSpPr>
        <p:spPr>
          <a:xfrm>
            <a:off x="571500" y="4236216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Validação de suspensões baseadas na proteção da comunidade, prevenção a fraudes e exercício regular de direito previsto em contrato.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714875" y="3491843"/>
            <a:ext cx="3857625" cy="15873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1"/>
          <p:cNvSpPr/>
          <p:nvPr/>
        </p:nvSpPr>
        <p:spPr>
          <a:xfrm>
            <a:off x="4714875" y="3491843"/>
            <a:ext cx="3857625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2"/>
          <p:cNvSpPr/>
          <p:nvPr/>
        </p:nvSpPr>
        <p:spPr>
          <a:xfrm>
            <a:off x="4929188" y="3706155"/>
            <a:ext cx="3429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F2F2F2">
                    <a:alpha val="70000"/>
                  </a:srgbClr>
                </a:solidFill>
              </a:rPr>
              <a:t>Insight Estratégico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929188" y="3949043"/>
            <a:ext cx="3429000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F2F2F2"/>
                </a:solidFill>
              </a:rPr>
              <a:t>Análise Multidimensional</a:t>
            </a:r>
            <a:endParaRPr lang="en-US" sz="1295" dirty="0"/>
          </a:p>
        </p:txBody>
      </p:sp>
      <p:sp>
        <p:nvSpPr>
          <p:cNvPr id="17" name="Text 14"/>
          <p:cNvSpPr/>
          <p:nvPr/>
        </p:nvSpPr>
        <p:spPr>
          <a:xfrm>
            <a:off x="4929188" y="4279078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metodologia forçou o enfrentamento direto entre o CDC e a Liberdade Contratual, evitando simplificações garantistas e antecipando defesas institucionais robustas.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428625"/>
            <a:ext cx="7832229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12" b="1" spc="-1" kern="0" dirty="0">
                <a:solidFill>
                  <a:srgbClr val="1A1A1A"/>
                </a:solidFill>
              </a:rPr>
              <a:t>Hard Case 3: Opacidade Algorítmica e Credit Scoring</a:t>
            </a:r>
            <a:endParaRPr lang="en-US" sz="1912" dirty="0"/>
          </a:p>
        </p:txBody>
      </p:sp>
      <p:sp>
        <p:nvSpPr>
          <p:cNvPr id="4" name="Text 1"/>
          <p:cNvSpPr/>
          <p:nvPr/>
        </p:nvSpPr>
        <p:spPr>
          <a:xfrm>
            <a:off x="821531" y="1119783"/>
            <a:ext cx="4107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C3300"/>
                </a:solidFill>
              </a:rPr>
              <a:t>O Conflito Estrutural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821531" y="1371600"/>
            <a:ext cx="41076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Tensão entre a liberdade econômica (segredo de negócio) e os direitos fundamentais do consumidor à transparência e explicação (LGPD/CDC).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821531" y="2125963"/>
            <a:ext cx="4107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C3300"/>
                </a:solidFill>
              </a:rPr>
              <a:t>Risco de Accountability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821531" y="2377780"/>
            <a:ext cx="41076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complexidade técnica das redes neurais não isenta o fornecedor do dever jurídico de justificar decisões que impactam a esfera do consumidor.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821531" y="3132144"/>
            <a:ext cx="41076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C3300"/>
                </a:solidFill>
              </a:rPr>
              <a:t>Cenário de Rejeição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821531" y="3383961"/>
            <a:ext cx="41076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 Judiciário pode reafirmar que o cálculo de risco é prerrogativa do credor, conforme a Súmula 550 do STJ, protegendo a "caixa preta" algorítmica.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357813" y="1084064"/>
            <a:ext cx="3214688" cy="2500313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969" y="1191220"/>
            <a:ext cx="3000375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57813" y="3798689"/>
            <a:ext cx="3214688" cy="12326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9"/>
          <p:cNvSpPr/>
          <p:nvPr/>
        </p:nvSpPr>
        <p:spPr>
          <a:xfrm>
            <a:off x="5572125" y="3941564"/>
            <a:ext cx="2786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C3300"/>
                </a:solidFill>
              </a:rPr>
              <a:t>Insight Metodológico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5572125" y="4168378"/>
            <a:ext cx="2786063" cy="862943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i="1" dirty="0">
                <a:solidFill>
                  <a:srgbClr val="F2F2F2"/>
                </a:solidFill>
              </a:rPr>
              <a:t>"A IA mapeou a 'inevitabilidade estatística' como um argumento de defesa robusto, forçando a tese autoral a ser mais específica e menos genérica."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564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388665"/>
            <a:ext cx="5000625" cy="1508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F2F2F2"/>
                </a:solidFill>
              </a:rPr>
              <a:t>Resultados: Da Engenharia de Prompt à Arquitetura de Raciocínio</a:t>
            </a:r>
            <a:endParaRPr lang="en-US" sz="2436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525" y="342900"/>
            <a:ext cx="2028825" cy="1600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4992"/>
            <a:ext cx="22860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42975" y="2714625"/>
            <a:ext cx="3486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A1A1A"/>
                </a:solidFill>
              </a:rPr>
              <a:t>Redução de Entropia</a:t>
            </a:r>
            <a:endParaRPr lang="en-US" sz="1193" dirty="0"/>
          </a:p>
        </p:txBody>
      </p:sp>
      <p:sp>
        <p:nvSpPr>
          <p:cNvPr id="8" name="Text 3"/>
          <p:cNvSpPr/>
          <p:nvPr/>
        </p:nvSpPr>
        <p:spPr>
          <a:xfrm>
            <a:off x="942975" y="3020020"/>
            <a:ext cx="34861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Respostas menos opinativas e rigorosamente ancoradas em categorias jurídicas e precedentes reais.</a:t>
            </a:r>
            <a:endParaRPr lang="en-US" sz="942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794992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86350" y="2714625"/>
            <a:ext cx="3486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A1A1A"/>
                </a:solidFill>
              </a:rPr>
              <a:t>Densidade Cognitiva</a:t>
            </a:r>
            <a:endParaRPr lang="en-US" sz="1193" dirty="0"/>
          </a:p>
        </p:txBody>
      </p:sp>
      <p:sp>
        <p:nvSpPr>
          <p:cNvPr id="11" name="Text 5"/>
          <p:cNvSpPr/>
          <p:nvPr/>
        </p:nvSpPr>
        <p:spPr>
          <a:xfrm>
            <a:off x="5086350" y="3020020"/>
            <a:ext cx="34861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Aumento significativo da carga analítica por token, eliminando redundâncias e textos puramente retóricos.</a:t>
            </a:r>
            <a:endParaRPr lang="en-US" sz="94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26188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42975" y="3845821"/>
            <a:ext cx="3486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A1A1A"/>
                </a:solidFill>
              </a:rPr>
              <a:t>Auditabilidade</a:t>
            </a:r>
            <a:endParaRPr lang="en-US" sz="1193" dirty="0"/>
          </a:p>
        </p:txBody>
      </p:sp>
      <p:sp>
        <p:nvSpPr>
          <p:cNvPr id="14" name="Text 7"/>
          <p:cNvSpPr/>
          <p:nvPr/>
        </p:nvSpPr>
        <p:spPr>
          <a:xfrm>
            <a:off x="942975" y="4151216"/>
            <a:ext cx="34861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Citações ABNT/BR obrigatórias integradas ao fluxo, permitindo verificação imediata de fontes e jurisprudência.</a:t>
            </a:r>
            <a:endParaRPr lang="en-US" sz="942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926188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86350" y="3845821"/>
            <a:ext cx="34861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1A1A1A"/>
                </a:solidFill>
              </a:rPr>
              <a:t>Estratégia de Impacto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5086350" y="4151216"/>
            <a:ext cx="34861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arquitetura "Architect" transforma a IA em um simulador de risco judicial e ferramenta de alta performance.</a:t>
            </a:r>
            <a:endParaRPr lang="en-US" sz="942" dirty="0"/>
          </a:p>
        </p:txBody>
      </p:sp>
      <p:sp>
        <p:nvSpPr>
          <p:cNvPr id="18" name="Shape 10"/>
          <p:cNvSpPr/>
          <p:nvPr/>
        </p:nvSpPr>
        <p:spPr>
          <a:xfrm>
            <a:off x="571500" y="4977017"/>
            <a:ext cx="8001000" cy="428625"/>
          </a:xfrm>
          <a:prstGeom prst="rect">
            <a:avLst/>
          </a:prstGeom>
          <a:solidFill>
            <a:srgbClr val="CC3300"/>
          </a:solidFill>
          <a:ln/>
        </p:spPr>
      </p:sp>
      <p:sp>
        <p:nvSpPr>
          <p:cNvPr id="19" name="Text 11"/>
          <p:cNvSpPr/>
          <p:nvPr/>
        </p:nvSpPr>
        <p:spPr>
          <a:xfrm>
            <a:off x="571500" y="4977017"/>
            <a:ext cx="8001000" cy="428625"/>
          </a:xfrm>
          <a:prstGeom prst="rect">
            <a:avLst/>
          </a:prstGeom>
          <a:noFill/>
          <a:ln/>
        </p:spPr>
        <p:txBody>
          <a:bodyPr wrap="square" lIns="255143" tIns="127508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F2F2F2"/>
                </a:solidFill>
              </a:rPr>
              <a:t>Conclusão: O sistema está pronto para uso em advocacia estratégica de alta complexidade.</a:t>
            </a:r>
            <a:endParaRPr lang="en-US" sz="9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2026-01-16T03:24:08Z</dcterms:created>
  <dcterms:modified xsi:type="dcterms:W3CDTF">2026-01-16T03:24:08Z</dcterms:modified>
</cp:coreProperties>
</file>